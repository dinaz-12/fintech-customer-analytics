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naphora Bold" charset="1" panose="00000000000000000000"/>
      <p:regular r:id="rId16"/>
    </p:embeddedFont>
    <p:embeddedFont>
      <p:font typeface="Noto Sans" charset="1" panose="020B0502040504020204"/>
      <p:regular r:id="rId17"/>
    </p:embeddedFont>
    <p:embeddedFont>
      <p:font typeface="Canva Sans Bold" charset="1" panose="020B0803030501040103"/>
      <p:regular r:id="rId18"/>
    </p:embeddedFont>
    <p:embeddedFont>
      <p:font typeface="Canva Sans" charset="1" panose="020B05030305010401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0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441429"/>
            <a:ext cx="4215414" cy="5781740"/>
          </a:xfrm>
          <a:custGeom>
            <a:avLst/>
            <a:gdLst/>
            <a:ahLst/>
            <a:cxnLst/>
            <a:rect r="r" b="b" t="t" l="l"/>
            <a:pathLst>
              <a:path h="5781740" w="4215414">
                <a:moveTo>
                  <a:pt x="0" y="0"/>
                </a:moveTo>
                <a:lnTo>
                  <a:pt x="4215414" y="0"/>
                </a:lnTo>
                <a:lnTo>
                  <a:pt x="4215414" y="5781740"/>
                </a:lnTo>
                <a:lnTo>
                  <a:pt x="0" y="5781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3499969" y="1859938"/>
            <a:ext cx="4788031" cy="6567125"/>
          </a:xfrm>
          <a:custGeom>
            <a:avLst/>
            <a:gdLst/>
            <a:ahLst/>
            <a:cxnLst/>
            <a:rect r="r" b="b" t="t" l="l"/>
            <a:pathLst>
              <a:path h="6567125" w="4788031">
                <a:moveTo>
                  <a:pt x="4788031" y="6567124"/>
                </a:moveTo>
                <a:lnTo>
                  <a:pt x="0" y="6567124"/>
                </a:lnTo>
                <a:lnTo>
                  <a:pt x="0" y="0"/>
                </a:lnTo>
                <a:lnTo>
                  <a:pt x="4788031" y="0"/>
                </a:lnTo>
                <a:lnTo>
                  <a:pt x="4788031" y="656712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61222" y="8979"/>
            <a:ext cx="2626778" cy="2077543"/>
          </a:xfrm>
          <a:custGeom>
            <a:avLst/>
            <a:gdLst/>
            <a:ahLst/>
            <a:cxnLst/>
            <a:rect r="r" b="b" t="t" l="l"/>
            <a:pathLst>
              <a:path h="2077543" w="2626778">
                <a:moveTo>
                  <a:pt x="0" y="0"/>
                </a:moveTo>
                <a:lnTo>
                  <a:pt x="2626778" y="0"/>
                </a:lnTo>
                <a:lnTo>
                  <a:pt x="2626778" y="2077542"/>
                </a:lnTo>
                <a:lnTo>
                  <a:pt x="0" y="207754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2820361" cy="2230649"/>
          </a:xfrm>
          <a:custGeom>
            <a:avLst/>
            <a:gdLst/>
            <a:ahLst/>
            <a:cxnLst/>
            <a:rect r="r" b="b" t="t" l="l"/>
            <a:pathLst>
              <a:path h="2230649" w="2820361">
                <a:moveTo>
                  <a:pt x="2820361" y="0"/>
                </a:moveTo>
                <a:lnTo>
                  <a:pt x="0" y="0"/>
                </a:lnTo>
                <a:lnTo>
                  <a:pt x="0" y="2230649"/>
                </a:lnTo>
                <a:lnTo>
                  <a:pt x="2820361" y="2230649"/>
                </a:lnTo>
                <a:lnTo>
                  <a:pt x="28203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8223169"/>
            <a:ext cx="2617573" cy="2070262"/>
          </a:xfrm>
          <a:custGeom>
            <a:avLst/>
            <a:gdLst/>
            <a:ahLst/>
            <a:cxnLst/>
            <a:rect r="r" b="b" t="t" l="l"/>
            <a:pathLst>
              <a:path h="2070262" w="2617573">
                <a:moveTo>
                  <a:pt x="0" y="0"/>
                </a:moveTo>
                <a:lnTo>
                  <a:pt x="2617573" y="0"/>
                </a:lnTo>
                <a:lnTo>
                  <a:pt x="2617573" y="2070262"/>
                </a:lnTo>
                <a:lnTo>
                  <a:pt x="0" y="2070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800000">
            <a:off x="15870460" y="8381377"/>
            <a:ext cx="2417540" cy="1912054"/>
          </a:xfrm>
          <a:custGeom>
            <a:avLst/>
            <a:gdLst/>
            <a:ahLst/>
            <a:cxnLst/>
            <a:rect r="r" b="b" t="t" l="l"/>
            <a:pathLst>
              <a:path h="1912054" w="2417540">
                <a:moveTo>
                  <a:pt x="2417540" y="0"/>
                </a:moveTo>
                <a:lnTo>
                  <a:pt x="0" y="0"/>
                </a:lnTo>
                <a:lnTo>
                  <a:pt x="0" y="1912054"/>
                </a:lnTo>
                <a:lnTo>
                  <a:pt x="2417540" y="1912054"/>
                </a:lnTo>
                <a:lnTo>
                  <a:pt x="24175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697675" y="1361611"/>
            <a:ext cx="12252564" cy="4464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57"/>
              </a:lnSpc>
            </a:pPr>
            <a:r>
              <a:rPr lang="en-US" b="true" sz="8469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FinSight Lanka Customer Analytics Assessment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85101" y="5740210"/>
            <a:ext cx="8277714" cy="705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20"/>
              </a:lnSpc>
            </a:pPr>
            <a:r>
              <a:rPr lang="en-US" sz="4086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Prepared for Dialog Finance PLC</a:t>
            </a:r>
          </a:p>
        </p:txBody>
      </p:sp>
      <p:sp>
        <p:nvSpPr>
          <p:cNvPr name="AutoShape 10" id="10"/>
          <p:cNvSpPr/>
          <p:nvPr/>
        </p:nvSpPr>
        <p:spPr>
          <a:xfrm>
            <a:off x="4219662" y="9239250"/>
            <a:ext cx="984867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1" id="11"/>
          <p:cNvSpPr/>
          <p:nvPr/>
        </p:nvSpPr>
        <p:spPr>
          <a:xfrm>
            <a:off x="4219662" y="1047750"/>
            <a:ext cx="984867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TextBox 12" id="12"/>
          <p:cNvSpPr txBox="true"/>
          <p:nvPr/>
        </p:nvSpPr>
        <p:spPr>
          <a:xfrm rot="0">
            <a:off x="8823957" y="8022005"/>
            <a:ext cx="5380422" cy="923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18"/>
              </a:lnSpc>
            </a:pPr>
            <a:r>
              <a:rPr lang="en-US" sz="2655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Dinali Chamodya</a:t>
            </a:r>
          </a:p>
          <a:p>
            <a:pPr algn="r">
              <a:lnSpc>
                <a:spcPts val="3718"/>
              </a:lnSpc>
            </a:pPr>
            <a:r>
              <a:rPr lang="en-US" sz="2655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5/23/2026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311576" y="2459389"/>
            <a:ext cx="3976424" cy="5453948"/>
          </a:xfrm>
          <a:custGeom>
            <a:avLst/>
            <a:gdLst/>
            <a:ahLst/>
            <a:cxnLst/>
            <a:rect r="r" b="b" t="t" l="l"/>
            <a:pathLst>
              <a:path h="5453948" w="3976424">
                <a:moveTo>
                  <a:pt x="3976424" y="5453947"/>
                </a:moveTo>
                <a:lnTo>
                  <a:pt x="0" y="5453947"/>
                </a:lnTo>
                <a:lnTo>
                  <a:pt x="0" y="0"/>
                </a:lnTo>
                <a:lnTo>
                  <a:pt x="3976424" y="0"/>
                </a:lnTo>
                <a:lnTo>
                  <a:pt x="3976424" y="545394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03968" y="0"/>
            <a:ext cx="2884032" cy="2281007"/>
          </a:xfrm>
          <a:custGeom>
            <a:avLst/>
            <a:gdLst/>
            <a:ahLst/>
            <a:cxnLst/>
            <a:rect r="r" b="b" t="t" l="l"/>
            <a:pathLst>
              <a:path h="2281007" w="2884032">
                <a:moveTo>
                  <a:pt x="0" y="0"/>
                </a:moveTo>
                <a:lnTo>
                  <a:pt x="2884032" y="0"/>
                </a:lnTo>
                <a:lnTo>
                  <a:pt x="2884032" y="2281007"/>
                </a:lnTo>
                <a:lnTo>
                  <a:pt x="0" y="22810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664259" y="8220730"/>
            <a:ext cx="2623741" cy="2075140"/>
          </a:xfrm>
          <a:custGeom>
            <a:avLst/>
            <a:gdLst/>
            <a:ahLst/>
            <a:cxnLst/>
            <a:rect r="r" b="b" t="t" l="l"/>
            <a:pathLst>
              <a:path h="2075140" w="2623741">
                <a:moveTo>
                  <a:pt x="2623741" y="0"/>
                </a:moveTo>
                <a:lnTo>
                  <a:pt x="0" y="0"/>
                </a:lnTo>
                <a:lnTo>
                  <a:pt x="0" y="2075140"/>
                </a:lnTo>
                <a:lnTo>
                  <a:pt x="2623741" y="2075140"/>
                </a:lnTo>
                <a:lnTo>
                  <a:pt x="26237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9239250"/>
            <a:ext cx="13039638" cy="1905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2411346" y="2809875"/>
          <a:ext cx="9394733" cy="4752975"/>
        </p:xfrm>
        <a:graphic>
          <a:graphicData uri="http://schemas.openxmlformats.org/drawingml/2006/table">
            <a:tbl>
              <a:tblPr/>
              <a:tblGrid>
                <a:gridCol w="4811396"/>
                <a:gridCol w="4583337"/>
              </a:tblGrid>
              <a:tr h="86417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82EA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Data Issue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82EA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Action Taken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7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Missing values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Filled using median/mode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7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Duplicate records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Removed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7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Invalid ages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Filtered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7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Text inconsistencies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Standardized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7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  <a:sym typeface="Noto Sans"/>
                        </a:rPr>
                        <a:t>Negative balances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Corrected/handled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28700" y="1229496"/>
            <a:ext cx="7657708" cy="830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799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Data Cleaning Summary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248650"/>
            <a:ext cx="14673777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The dataset req</a:t>
            </a:r>
            <a:r>
              <a:rPr lang="en-US" sz="2799">
                <a:solidFill>
                  <a:srgbClr val="82EAFC"/>
                </a:solidFill>
                <a:latin typeface="Noto Sans"/>
                <a:ea typeface="Noto Sans"/>
                <a:cs typeface="Noto Sans"/>
                <a:sym typeface="Noto Sans"/>
              </a:rPr>
              <a:t>uired significant preprocessing to ensure reliable business analysis.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851079" y="2268988"/>
            <a:ext cx="4436921" cy="6085553"/>
          </a:xfrm>
          <a:custGeom>
            <a:avLst/>
            <a:gdLst/>
            <a:ahLst/>
            <a:cxnLst/>
            <a:rect r="r" b="b" t="t" l="l"/>
            <a:pathLst>
              <a:path h="6085553" w="4436921">
                <a:moveTo>
                  <a:pt x="4436921" y="6085553"/>
                </a:moveTo>
                <a:lnTo>
                  <a:pt x="0" y="6085553"/>
                </a:lnTo>
                <a:lnTo>
                  <a:pt x="0" y="0"/>
                </a:lnTo>
                <a:lnTo>
                  <a:pt x="4436921" y="0"/>
                </a:lnTo>
                <a:lnTo>
                  <a:pt x="4436921" y="60855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20242" y="0"/>
            <a:ext cx="2567758" cy="2030863"/>
          </a:xfrm>
          <a:custGeom>
            <a:avLst/>
            <a:gdLst/>
            <a:ahLst/>
            <a:cxnLst/>
            <a:rect r="r" b="b" t="t" l="l"/>
            <a:pathLst>
              <a:path h="2030863" w="2567758">
                <a:moveTo>
                  <a:pt x="0" y="0"/>
                </a:moveTo>
                <a:lnTo>
                  <a:pt x="2567758" y="0"/>
                </a:lnTo>
                <a:lnTo>
                  <a:pt x="2567758" y="2030863"/>
                </a:lnTo>
                <a:lnTo>
                  <a:pt x="0" y="2030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6069539" y="8532399"/>
            <a:ext cx="2218461" cy="1754601"/>
          </a:xfrm>
          <a:custGeom>
            <a:avLst/>
            <a:gdLst/>
            <a:ahLst/>
            <a:cxnLst/>
            <a:rect r="r" b="b" t="t" l="l"/>
            <a:pathLst>
              <a:path h="1754601" w="2218461">
                <a:moveTo>
                  <a:pt x="2218461" y="0"/>
                </a:moveTo>
                <a:lnTo>
                  <a:pt x="0" y="0"/>
                </a:lnTo>
                <a:lnTo>
                  <a:pt x="0" y="1754601"/>
                </a:lnTo>
                <a:lnTo>
                  <a:pt x="2218461" y="1754601"/>
                </a:lnTo>
                <a:lnTo>
                  <a:pt x="221846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9239250"/>
            <a:ext cx="13039638" cy="1905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7442249" y="2268988"/>
            <a:ext cx="5999088" cy="4601531"/>
          </a:xfrm>
          <a:custGeom>
            <a:avLst/>
            <a:gdLst/>
            <a:ahLst/>
            <a:cxnLst/>
            <a:rect r="r" b="b" t="t" l="l"/>
            <a:pathLst>
              <a:path h="4601531" w="5999088">
                <a:moveTo>
                  <a:pt x="0" y="0"/>
                </a:moveTo>
                <a:lnTo>
                  <a:pt x="5999089" y="0"/>
                </a:lnTo>
                <a:lnTo>
                  <a:pt x="5999089" y="4601531"/>
                </a:lnTo>
                <a:lnTo>
                  <a:pt x="0" y="46015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2268988"/>
            <a:ext cx="5396858" cy="4601531"/>
          </a:xfrm>
          <a:custGeom>
            <a:avLst/>
            <a:gdLst/>
            <a:ahLst/>
            <a:cxnLst/>
            <a:rect r="r" b="b" t="t" l="l"/>
            <a:pathLst>
              <a:path h="4601531" w="5396858">
                <a:moveTo>
                  <a:pt x="0" y="0"/>
                </a:moveTo>
                <a:lnTo>
                  <a:pt x="5396858" y="0"/>
                </a:lnTo>
                <a:lnTo>
                  <a:pt x="5396858" y="4601531"/>
                </a:lnTo>
                <a:lnTo>
                  <a:pt x="0" y="46015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200283"/>
            <a:ext cx="1538327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Savings Behaviour Findings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692" y="7280820"/>
            <a:ext cx="1591529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Customers aged 18–25 hold the highest total s</a:t>
            </a: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avings balances.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Regular and premium customers maintain significantly higher average savings balances.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Most customers are actively growing their savings balances each month.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737324" y="3013232"/>
            <a:ext cx="3550676" cy="4870004"/>
          </a:xfrm>
          <a:custGeom>
            <a:avLst/>
            <a:gdLst/>
            <a:ahLst/>
            <a:cxnLst/>
            <a:rect r="r" b="b" t="t" l="l"/>
            <a:pathLst>
              <a:path h="4870004" w="3550676">
                <a:moveTo>
                  <a:pt x="3550676" y="4870005"/>
                </a:moveTo>
                <a:lnTo>
                  <a:pt x="0" y="4870005"/>
                </a:lnTo>
                <a:lnTo>
                  <a:pt x="0" y="0"/>
                </a:lnTo>
                <a:lnTo>
                  <a:pt x="3550676" y="0"/>
                </a:lnTo>
                <a:lnTo>
                  <a:pt x="3550676" y="487000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73013" y="0"/>
            <a:ext cx="2814987" cy="2226399"/>
          </a:xfrm>
          <a:custGeom>
            <a:avLst/>
            <a:gdLst/>
            <a:ahLst/>
            <a:cxnLst/>
            <a:rect r="r" b="b" t="t" l="l"/>
            <a:pathLst>
              <a:path h="2226399" w="2814987">
                <a:moveTo>
                  <a:pt x="0" y="0"/>
                </a:moveTo>
                <a:lnTo>
                  <a:pt x="2814987" y="0"/>
                </a:lnTo>
                <a:lnTo>
                  <a:pt x="2814987" y="2226399"/>
                </a:lnTo>
                <a:lnTo>
                  <a:pt x="0" y="2226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743352" y="8274415"/>
            <a:ext cx="2544648" cy="2012585"/>
          </a:xfrm>
          <a:custGeom>
            <a:avLst/>
            <a:gdLst/>
            <a:ahLst/>
            <a:cxnLst/>
            <a:rect r="r" b="b" t="t" l="l"/>
            <a:pathLst>
              <a:path h="2012585" w="2544648">
                <a:moveTo>
                  <a:pt x="2544648" y="0"/>
                </a:moveTo>
                <a:lnTo>
                  <a:pt x="0" y="0"/>
                </a:lnTo>
                <a:lnTo>
                  <a:pt x="0" y="2012585"/>
                </a:lnTo>
                <a:lnTo>
                  <a:pt x="2544648" y="2012585"/>
                </a:lnTo>
                <a:lnTo>
                  <a:pt x="254464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9239250"/>
            <a:ext cx="13039638" cy="1905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779428" y="2268988"/>
            <a:ext cx="8091116" cy="6077658"/>
          </a:xfrm>
          <a:custGeom>
            <a:avLst/>
            <a:gdLst/>
            <a:ahLst/>
            <a:cxnLst/>
            <a:rect r="r" b="b" t="t" l="l"/>
            <a:pathLst>
              <a:path h="6077658" w="8091116">
                <a:moveTo>
                  <a:pt x="0" y="0"/>
                </a:moveTo>
                <a:lnTo>
                  <a:pt x="8091116" y="0"/>
                </a:lnTo>
                <a:lnTo>
                  <a:pt x="8091116" y="6077659"/>
                </a:lnTo>
                <a:lnTo>
                  <a:pt x="0" y="60776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200283"/>
            <a:ext cx="839250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Loan Portfolio &amp; Risk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450354"/>
            <a:ext cx="5421648" cy="4939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Loan penetration is high across the customer base.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Certain customer groups demonstrate elevated repayment risk.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Customers with high debt-to-savings ratios require closer monitoring.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354563" y="2720291"/>
            <a:ext cx="3929074" cy="5389005"/>
          </a:xfrm>
          <a:custGeom>
            <a:avLst/>
            <a:gdLst/>
            <a:ahLst/>
            <a:cxnLst/>
            <a:rect r="r" b="b" t="t" l="l"/>
            <a:pathLst>
              <a:path h="5389005" w="3929074">
                <a:moveTo>
                  <a:pt x="3929075" y="5389005"/>
                </a:moveTo>
                <a:lnTo>
                  <a:pt x="0" y="5389005"/>
                </a:lnTo>
                <a:lnTo>
                  <a:pt x="0" y="0"/>
                </a:lnTo>
                <a:lnTo>
                  <a:pt x="3929075" y="0"/>
                </a:lnTo>
                <a:lnTo>
                  <a:pt x="3929075" y="5389005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720242" y="0"/>
            <a:ext cx="2567758" cy="2030863"/>
          </a:xfrm>
          <a:custGeom>
            <a:avLst/>
            <a:gdLst/>
            <a:ahLst/>
            <a:cxnLst/>
            <a:rect r="r" b="b" t="t" l="l"/>
            <a:pathLst>
              <a:path h="2030863" w="2567758">
                <a:moveTo>
                  <a:pt x="0" y="0"/>
                </a:moveTo>
                <a:lnTo>
                  <a:pt x="2567758" y="0"/>
                </a:lnTo>
                <a:lnTo>
                  <a:pt x="2567758" y="2030863"/>
                </a:lnTo>
                <a:lnTo>
                  <a:pt x="0" y="20308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773026" y="8263742"/>
            <a:ext cx="2514974" cy="1989116"/>
          </a:xfrm>
          <a:custGeom>
            <a:avLst/>
            <a:gdLst/>
            <a:ahLst/>
            <a:cxnLst/>
            <a:rect r="r" b="b" t="t" l="l"/>
            <a:pathLst>
              <a:path h="1989116" w="2514974">
                <a:moveTo>
                  <a:pt x="2514974" y="0"/>
                </a:moveTo>
                <a:lnTo>
                  <a:pt x="0" y="0"/>
                </a:lnTo>
                <a:lnTo>
                  <a:pt x="0" y="1989116"/>
                </a:lnTo>
                <a:lnTo>
                  <a:pt x="2514974" y="1989116"/>
                </a:lnTo>
                <a:lnTo>
                  <a:pt x="251497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9239250"/>
            <a:ext cx="13039638" cy="1905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2627348"/>
            <a:ext cx="7330618" cy="5481948"/>
          </a:xfrm>
          <a:custGeom>
            <a:avLst/>
            <a:gdLst/>
            <a:ahLst/>
            <a:cxnLst/>
            <a:rect r="r" b="b" t="t" l="l"/>
            <a:pathLst>
              <a:path h="5481948" w="7330618">
                <a:moveTo>
                  <a:pt x="0" y="0"/>
                </a:moveTo>
                <a:lnTo>
                  <a:pt x="7330618" y="0"/>
                </a:lnTo>
                <a:lnTo>
                  <a:pt x="7330618" y="5481948"/>
                </a:lnTo>
                <a:lnTo>
                  <a:pt x="0" y="5481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377668"/>
            <a:ext cx="1332586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Digital Engagement &amp; Cross-Sell Opportunity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371222" y="4511368"/>
            <a:ext cx="6517047" cy="3597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29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Mobile app users maintain significantly higher average savings balances.</a:t>
            </a:r>
          </a:p>
          <a:p>
            <a:pPr algn="l">
              <a:lnSpc>
                <a:spcPts val="4098"/>
              </a:lnSpc>
            </a:pPr>
          </a:p>
          <a:p>
            <a:pPr algn="l">
              <a:lnSpc>
                <a:spcPts val="4098"/>
              </a:lnSpc>
            </a:pPr>
            <a:r>
              <a:rPr lang="en-US" sz="2927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• A large cross-sell opportunity exists among customers without fixed deposits or insurance.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3925870" y="2209900"/>
            <a:ext cx="4346590" cy="5961657"/>
          </a:xfrm>
          <a:custGeom>
            <a:avLst/>
            <a:gdLst/>
            <a:ahLst/>
            <a:cxnLst/>
            <a:rect r="r" b="b" t="t" l="l"/>
            <a:pathLst>
              <a:path h="5961657" w="4346590">
                <a:moveTo>
                  <a:pt x="4346590" y="5961656"/>
                </a:moveTo>
                <a:lnTo>
                  <a:pt x="0" y="5961656"/>
                </a:lnTo>
                <a:lnTo>
                  <a:pt x="0" y="0"/>
                </a:lnTo>
                <a:lnTo>
                  <a:pt x="4346590" y="0"/>
                </a:lnTo>
                <a:lnTo>
                  <a:pt x="4346590" y="596165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554323" y="0"/>
            <a:ext cx="2718137" cy="2149799"/>
          </a:xfrm>
          <a:custGeom>
            <a:avLst/>
            <a:gdLst/>
            <a:ahLst/>
            <a:cxnLst/>
            <a:rect r="r" b="b" t="t" l="l"/>
            <a:pathLst>
              <a:path h="2149799" w="2718137">
                <a:moveTo>
                  <a:pt x="0" y="0"/>
                </a:moveTo>
                <a:lnTo>
                  <a:pt x="2718137" y="0"/>
                </a:lnTo>
                <a:lnTo>
                  <a:pt x="2718137" y="2149799"/>
                </a:lnTo>
                <a:lnTo>
                  <a:pt x="0" y="21497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597761" y="8171556"/>
            <a:ext cx="2674699" cy="2115444"/>
          </a:xfrm>
          <a:custGeom>
            <a:avLst/>
            <a:gdLst/>
            <a:ahLst/>
            <a:cxnLst/>
            <a:rect r="r" b="b" t="t" l="l"/>
            <a:pathLst>
              <a:path h="2115444" w="2674699">
                <a:moveTo>
                  <a:pt x="2674699" y="0"/>
                </a:moveTo>
                <a:lnTo>
                  <a:pt x="0" y="0"/>
                </a:lnTo>
                <a:lnTo>
                  <a:pt x="0" y="2115444"/>
                </a:lnTo>
                <a:lnTo>
                  <a:pt x="2674699" y="2115444"/>
                </a:lnTo>
                <a:lnTo>
                  <a:pt x="267469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V="true">
            <a:off x="1028700" y="9239250"/>
            <a:ext cx="13039638" cy="1905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6" id="6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1482193" y="2732137"/>
          <a:ext cx="11754722" cy="5745227"/>
        </p:xfrm>
        <a:graphic>
          <a:graphicData uri="http://schemas.openxmlformats.org/drawingml/2006/table">
            <a:tbl>
              <a:tblPr/>
              <a:tblGrid>
                <a:gridCol w="3918241"/>
                <a:gridCol w="3918241"/>
                <a:gridCol w="3918241"/>
              </a:tblGrid>
              <a:tr h="15668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82EA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KPI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82EA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Current Value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82EA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Business Importance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30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Total Customers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Customer base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305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Average Savings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2.76M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Financial health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223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Customers with Loans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497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Product adoption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8" id="8"/>
          <p:cNvSpPr txBox="true"/>
          <p:nvPr/>
        </p:nvSpPr>
        <p:spPr>
          <a:xfrm rot="0">
            <a:off x="1028700" y="1200283"/>
            <a:ext cx="839250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KPI Summary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28700" y="9830546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" id="3"/>
          <p:cNvSpPr/>
          <p:nvPr/>
        </p:nvSpPr>
        <p:spPr>
          <a:xfrm>
            <a:off x="1028700" y="450437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754161" y="872513"/>
            <a:ext cx="13985390" cy="7837848"/>
          </a:xfrm>
          <a:custGeom>
            <a:avLst/>
            <a:gdLst/>
            <a:ahLst/>
            <a:cxnLst/>
            <a:rect r="r" b="b" t="t" l="l"/>
            <a:pathLst>
              <a:path h="7837848" w="13985390">
                <a:moveTo>
                  <a:pt x="0" y="0"/>
                </a:moveTo>
                <a:lnTo>
                  <a:pt x="13985390" y="0"/>
                </a:lnTo>
                <a:lnTo>
                  <a:pt x="13985390" y="7837848"/>
                </a:lnTo>
                <a:lnTo>
                  <a:pt x="0" y="7837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57150" cap="sq">
            <a:gradFill>
              <a:gsLst>
                <a:gs pos="0">
                  <a:srgbClr val="82EAFC">
                    <a:alpha val="100000"/>
                  </a:srgbClr>
                </a:gs>
                <a:gs pos="100000">
                  <a:srgbClr val="6284F3">
                    <a:alpha val="100000"/>
                  </a:srgbClr>
                </a:gs>
              </a:gsLst>
              <a:lin ang="0"/>
            </a:gra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-2325108" y="3723037"/>
            <a:ext cx="8392503" cy="167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b="true" sz="4800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Dashboard </a:t>
            </a:r>
          </a:p>
          <a:p>
            <a:pPr algn="ctr">
              <a:lnSpc>
                <a:spcPts val="6719"/>
              </a:lnSpc>
            </a:pPr>
            <a:r>
              <a:rPr lang="en-US" b="true" sz="4800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Overview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210675"/>
            <a:ext cx="16406051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The dashboard provides a consolidated vi</a:t>
            </a:r>
            <a:r>
              <a:rPr lang="en-US" sz="2499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ew of customer behaviour, financial risk, and digital engagement.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75688" y="9655207"/>
            <a:ext cx="16483612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3" id="3"/>
          <p:cNvSpPr/>
          <p:nvPr/>
        </p:nvSpPr>
        <p:spPr>
          <a:xfrm flipV="true">
            <a:off x="1028722" y="649923"/>
            <a:ext cx="16230600" cy="1905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0410738" y="3539186"/>
          <a:ext cx="7315200" cy="4419600"/>
        </p:xfrm>
        <a:graphic>
          <a:graphicData uri="http://schemas.openxmlformats.org/drawingml/2006/table">
            <a:tbl>
              <a:tblPr/>
              <a:tblGrid>
                <a:gridCol w="4560566"/>
                <a:gridCol w="2754634"/>
              </a:tblGrid>
              <a:tr h="10280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 b="true">
                          <a:solidFill>
                            <a:srgbClr val="82EA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Limitation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82EAFC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Severity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0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Missing income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17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Limited historical transaction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176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Some assumptions during cleaning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028722" y="945198"/>
            <a:ext cx="709361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Key Business Findings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22" y="1813878"/>
            <a:ext cx="7282516" cy="3560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2592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Younger customers demonstrate strong savings behaviour.</a:t>
            </a:r>
          </a:p>
          <a:p>
            <a:pPr algn="l">
              <a:lnSpc>
                <a:spcPts val="2592"/>
              </a:lnSpc>
            </a:pPr>
          </a:p>
          <a:p>
            <a:pPr algn="l" marL="518160" indent="-259080" lvl="1">
              <a:lnSpc>
                <a:spcPts val="2592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Digital engagement is positively associated with higher savings balances.</a:t>
            </a:r>
          </a:p>
          <a:p>
            <a:pPr algn="l">
              <a:lnSpc>
                <a:spcPts val="2592"/>
              </a:lnSpc>
            </a:pPr>
          </a:p>
          <a:p>
            <a:pPr algn="l" marL="518160" indent="-259080" lvl="1">
              <a:lnSpc>
                <a:spcPts val="2592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Cross-selling opportunities remain underutilized.</a:t>
            </a:r>
          </a:p>
          <a:p>
            <a:pPr algn="l">
              <a:lnSpc>
                <a:spcPts val="2592"/>
              </a:lnSpc>
            </a:pPr>
          </a:p>
          <a:p>
            <a:pPr algn="l" marL="518160" indent="-259080" lvl="1">
              <a:lnSpc>
                <a:spcPts val="2592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Certain customer segments show elevated repayment risk.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84728"/>
            <a:ext cx="709361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Recommendations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4375" y="7148658"/>
            <a:ext cx="8265503" cy="2072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1. Increase mobile onboarding and digital engagement campaigns targeting younger customers.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2. Strengthen monitoring and risk controls</a:t>
            </a:r>
            <a:r>
              <a:rPr lang="en-US" sz="24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for customers with high debt-to-savings ratios.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21532" y="2708606"/>
            <a:ext cx="7093613" cy="83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Limitations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4444217" y="2507489"/>
            <a:ext cx="3843783" cy="5272021"/>
          </a:xfrm>
          <a:custGeom>
            <a:avLst/>
            <a:gdLst/>
            <a:ahLst/>
            <a:cxnLst/>
            <a:rect r="r" b="b" t="t" l="l"/>
            <a:pathLst>
              <a:path h="5272021" w="3843783">
                <a:moveTo>
                  <a:pt x="3843783" y="5272022"/>
                </a:moveTo>
                <a:lnTo>
                  <a:pt x="0" y="5272022"/>
                </a:lnTo>
                <a:lnTo>
                  <a:pt x="0" y="0"/>
                </a:lnTo>
                <a:lnTo>
                  <a:pt x="3843783" y="0"/>
                </a:lnTo>
                <a:lnTo>
                  <a:pt x="3843783" y="52720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493574" y="61672"/>
            <a:ext cx="2794426" cy="2210137"/>
          </a:xfrm>
          <a:custGeom>
            <a:avLst/>
            <a:gdLst/>
            <a:ahLst/>
            <a:cxnLst/>
            <a:rect r="r" b="b" t="t" l="l"/>
            <a:pathLst>
              <a:path h="2210137" w="2794426">
                <a:moveTo>
                  <a:pt x="0" y="0"/>
                </a:moveTo>
                <a:lnTo>
                  <a:pt x="2794426" y="0"/>
                </a:lnTo>
                <a:lnTo>
                  <a:pt x="2794426" y="2210136"/>
                </a:lnTo>
                <a:lnTo>
                  <a:pt x="0" y="2210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15622520" y="8178847"/>
            <a:ext cx="2665480" cy="2108153"/>
          </a:xfrm>
          <a:custGeom>
            <a:avLst/>
            <a:gdLst/>
            <a:ahLst/>
            <a:cxnLst/>
            <a:rect r="r" b="b" t="t" l="l"/>
            <a:pathLst>
              <a:path h="2108153" w="2665480">
                <a:moveTo>
                  <a:pt x="2665480" y="0"/>
                </a:moveTo>
                <a:lnTo>
                  <a:pt x="0" y="0"/>
                </a:lnTo>
                <a:lnTo>
                  <a:pt x="0" y="2108153"/>
                </a:lnTo>
                <a:lnTo>
                  <a:pt x="2665480" y="2108153"/>
                </a:lnTo>
                <a:lnTo>
                  <a:pt x="266548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733328"/>
            <a:ext cx="8392503" cy="962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39"/>
              </a:lnSpc>
            </a:pPr>
            <a:r>
              <a:rPr lang="en-US" sz="5599" b="true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363259"/>
            <a:ext cx="12208863" cy="1780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76"/>
              </a:lnSpc>
            </a:pPr>
            <a:r>
              <a:rPr lang="en-US" sz="34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The analysis highlights strong digital adoption, healthy savings behaviour, and opportunities to improv</a:t>
            </a:r>
            <a:r>
              <a:rPr lang="en-US" sz="3411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 cross-selling and risk management strategies.</a:t>
            </a:r>
          </a:p>
        </p:txBody>
      </p:sp>
      <p:sp>
        <p:nvSpPr>
          <p:cNvPr name="AutoShape 7" id="7"/>
          <p:cNvSpPr/>
          <p:nvPr/>
        </p:nvSpPr>
        <p:spPr>
          <a:xfrm flipV="true">
            <a:off x="1028700" y="9239250"/>
            <a:ext cx="13039638" cy="1905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8" id="8"/>
          <p:cNvSpPr/>
          <p:nvPr/>
        </p:nvSpPr>
        <p:spPr>
          <a:xfrm>
            <a:off x="1028700" y="1047750"/>
            <a:ext cx="13039638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9604394" y="4974519"/>
            <a:ext cx="4463945" cy="3932260"/>
            <a:chOff x="0" y="0"/>
            <a:chExt cx="776364" cy="68389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76364" cy="683894"/>
            </a:xfrm>
            <a:custGeom>
              <a:avLst/>
              <a:gdLst/>
              <a:ahLst/>
              <a:cxnLst/>
              <a:rect r="r" b="b" t="t" l="l"/>
              <a:pathLst>
                <a:path h="683894" w="776364">
                  <a:moveTo>
                    <a:pt x="26015" y="0"/>
                  </a:moveTo>
                  <a:lnTo>
                    <a:pt x="750349" y="0"/>
                  </a:lnTo>
                  <a:cubicBezTo>
                    <a:pt x="764717" y="0"/>
                    <a:pt x="776364" y="11647"/>
                    <a:pt x="776364" y="26015"/>
                  </a:cubicBezTo>
                  <a:lnTo>
                    <a:pt x="776364" y="657879"/>
                  </a:lnTo>
                  <a:cubicBezTo>
                    <a:pt x="776364" y="664779"/>
                    <a:pt x="773623" y="671396"/>
                    <a:pt x="768744" y="676274"/>
                  </a:cubicBezTo>
                  <a:cubicBezTo>
                    <a:pt x="763866" y="681153"/>
                    <a:pt x="757249" y="683894"/>
                    <a:pt x="750349" y="683894"/>
                  </a:cubicBezTo>
                  <a:lnTo>
                    <a:pt x="26015" y="683894"/>
                  </a:lnTo>
                  <a:cubicBezTo>
                    <a:pt x="11647" y="683894"/>
                    <a:pt x="0" y="672247"/>
                    <a:pt x="0" y="657879"/>
                  </a:cubicBezTo>
                  <a:lnTo>
                    <a:pt x="0" y="26015"/>
                  </a:lnTo>
                  <a:cubicBezTo>
                    <a:pt x="0" y="11647"/>
                    <a:pt x="11647" y="0"/>
                    <a:pt x="26015" y="0"/>
                  </a:cubicBezTo>
                  <a:close/>
                </a:path>
              </a:pathLst>
            </a:custGeom>
            <a:blipFill>
              <a:blip r:embed="rId6">
                <a:alphaModFix amt="43999"/>
              </a:blip>
              <a:stretch>
                <a:fillRect l="-23407" t="0" r="-23407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B0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2226611"/>
            <a:ext cx="3780554" cy="5185299"/>
          </a:xfrm>
          <a:custGeom>
            <a:avLst/>
            <a:gdLst/>
            <a:ahLst/>
            <a:cxnLst/>
            <a:rect r="r" b="b" t="t" l="l"/>
            <a:pathLst>
              <a:path h="5185299" w="3780554">
                <a:moveTo>
                  <a:pt x="0" y="0"/>
                </a:moveTo>
                <a:lnTo>
                  <a:pt x="3780554" y="0"/>
                </a:lnTo>
                <a:lnTo>
                  <a:pt x="3780554" y="5185299"/>
                </a:lnTo>
                <a:lnTo>
                  <a:pt x="0" y="51852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4405574" y="2156749"/>
            <a:ext cx="3882426" cy="5325023"/>
          </a:xfrm>
          <a:custGeom>
            <a:avLst/>
            <a:gdLst/>
            <a:ahLst/>
            <a:cxnLst/>
            <a:rect r="r" b="b" t="t" l="l"/>
            <a:pathLst>
              <a:path h="5325023" w="3882426">
                <a:moveTo>
                  <a:pt x="3882426" y="5325023"/>
                </a:moveTo>
                <a:lnTo>
                  <a:pt x="0" y="5325023"/>
                </a:lnTo>
                <a:lnTo>
                  <a:pt x="0" y="0"/>
                </a:lnTo>
                <a:lnTo>
                  <a:pt x="3882426" y="0"/>
                </a:lnTo>
                <a:lnTo>
                  <a:pt x="3882426" y="532502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337519" y="0"/>
            <a:ext cx="2931231" cy="2318337"/>
          </a:xfrm>
          <a:custGeom>
            <a:avLst/>
            <a:gdLst/>
            <a:ahLst/>
            <a:cxnLst/>
            <a:rect r="r" b="b" t="t" l="l"/>
            <a:pathLst>
              <a:path h="2318337" w="2931231">
                <a:moveTo>
                  <a:pt x="0" y="0"/>
                </a:moveTo>
                <a:lnTo>
                  <a:pt x="2931230" y="0"/>
                </a:lnTo>
                <a:lnTo>
                  <a:pt x="2931230" y="2318337"/>
                </a:lnTo>
                <a:lnTo>
                  <a:pt x="0" y="23183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0"/>
            <a:ext cx="2952837" cy="2335425"/>
          </a:xfrm>
          <a:custGeom>
            <a:avLst/>
            <a:gdLst/>
            <a:ahLst/>
            <a:cxnLst/>
            <a:rect r="r" b="b" t="t" l="l"/>
            <a:pathLst>
              <a:path h="2335425" w="2952837">
                <a:moveTo>
                  <a:pt x="2952837" y="0"/>
                </a:moveTo>
                <a:lnTo>
                  <a:pt x="0" y="0"/>
                </a:lnTo>
                <a:lnTo>
                  <a:pt x="0" y="2335425"/>
                </a:lnTo>
                <a:lnTo>
                  <a:pt x="2952837" y="2335425"/>
                </a:lnTo>
                <a:lnTo>
                  <a:pt x="295283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0" y="7934567"/>
            <a:ext cx="2974340" cy="2352433"/>
          </a:xfrm>
          <a:custGeom>
            <a:avLst/>
            <a:gdLst/>
            <a:ahLst/>
            <a:cxnLst/>
            <a:rect r="r" b="b" t="t" l="l"/>
            <a:pathLst>
              <a:path h="2352433" w="2974340">
                <a:moveTo>
                  <a:pt x="0" y="0"/>
                </a:moveTo>
                <a:lnTo>
                  <a:pt x="2974340" y="0"/>
                </a:lnTo>
                <a:lnTo>
                  <a:pt x="2974340" y="2352433"/>
                </a:lnTo>
                <a:lnTo>
                  <a:pt x="0" y="2352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10800000">
            <a:off x="15550262" y="8136923"/>
            <a:ext cx="2718488" cy="2150077"/>
          </a:xfrm>
          <a:custGeom>
            <a:avLst/>
            <a:gdLst/>
            <a:ahLst/>
            <a:cxnLst/>
            <a:rect r="r" b="b" t="t" l="l"/>
            <a:pathLst>
              <a:path h="2150077" w="2718488">
                <a:moveTo>
                  <a:pt x="2718487" y="0"/>
                </a:moveTo>
                <a:lnTo>
                  <a:pt x="0" y="0"/>
                </a:lnTo>
                <a:lnTo>
                  <a:pt x="0" y="2150077"/>
                </a:lnTo>
                <a:lnTo>
                  <a:pt x="2718487" y="2150077"/>
                </a:lnTo>
                <a:lnTo>
                  <a:pt x="27184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50481" y="3721563"/>
            <a:ext cx="12387037" cy="2548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0"/>
              </a:lnSpc>
            </a:pPr>
            <a:r>
              <a:rPr lang="en-US" b="true" sz="14785">
                <a:gradFill>
                  <a:gsLst>
                    <a:gs pos="0">
                      <a:srgbClr val="82EAFC">
                        <a:alpha val="100000"/>
                      </a:srgbClr>
                    </a:gs>
                    <a:gs pos="100000">
                      <a:srgbClr val="6284F3">
                        <a:alpha val="100000"/>
                      </a:srgbClr>
                    </a:gs>
                  </a:gsLst>
                  <a:lin ang="0"/>
                </a:gradFill>
                <a:latin typeface="Anaphora Bold"/>
                <a:ea typeface="Anaphora Bold"/>
                <a:cs typeface="Anaphora Bold"/>
                <a:sym typeface="Anaphora Bold"/>
              </a:rPr>
              <a:t>Thank You</a:t>
            </a:r>
          </a:p>
        </p:txBody>
      </p:sp>
      <p:sp>
        <p:nvSpPr>
          <p:cNvPr name="AutoShape 9" id="9"/>
          <p:cNvSpPr/>
          <p:nvPr/>
        </p:nvSpPr>
        <p:spPr>
          <a:xfrm>
            <a:off x="4219662" y="9239250"/>
            <a:ext cx="984867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  <p:sp>
        <p:nvSpPr>
          <p:cNvPr name="AutoShape 10" id="10"/>
          <p:cNvSpPr/>
          <p:nvPr/>
        </p:nvSpPr>
        <p:spPr>
          <a:xfrm>
            <a:off x="4219662" y="1047750"/>
            <a:ext cx="9848677" cy="0"/>
          </a:xfrm>
          <a:prstGeom prst="line">
            <a:avLst/>
          </a:prstGeom>
          <a:ln cap="flat" w="38100">
            <a:solidFill>
              <a:srgbClr val="2B3567"/>
            </a:solidFill>
            <a:prstDash val="solid"/>
            <a:headEnd type="oval" len="lg" w="lg"/>
            <a:tailEnd type="oval" len="lg" w="lg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DAHKc7xQ8ag</dc:identifier>
  <dcterms:modified xsi:type="dcterms:W3CDTF">2011-08-01T06:04:30Z</dcterms:modified>
  <cp:revision>1</cp:revision>
  <dc:title>Modern Dark Blue Technology Presentation</dc:title>
</cp:coreProperties>
</file>